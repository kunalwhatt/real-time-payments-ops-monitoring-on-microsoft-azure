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00503000000020004" pitchFamily="2" charset="0"/>
      <p:regular r:id="rId13"/>
      <p:bold r:id="rId14"/>
      <p:italic r:id="rId15"/>
      <p:boldItalic r:id="rId16"/>
    </p:embeddedFont>
    <p:embeddedFont>
      <p:font typeface="Inter Light" panose="02000503000000020004" pitchFamily="2" charset="0"/>
      <p:regular r:id="rId17"/>
      <p: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44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5263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13792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IN" sz="4800" b="1" dirty="0"/>
              <a:t>Real-Time Payments Ops Monitoring on Microsoft Azure</a:t>
            </a:r>
          </a:p>
        </p:txBody>
      </p:sp>
      <p:sp>
        <p:nvSpPr>
          <p:cNvPr id="3" name="Text 1"/>
          <p:cNvSpPr/>
          <p:nvPr/>
        </p:nvSpPr>
        <p:spPr>
          <a:xfrm>
            <a:off x="793790" y="447151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Harness the power of Microsoft Azure to gain unparalleled insights and control 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your payment ecosystem.</a:t>
            </a:r>
          </a:p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5591077" y="5237605"/>
            <a:ext cx="3119080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90991" y="5281445"/>
            <a:ext cx="284690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REVIEW - 1</a:t>
            </a:r>
            <a:endParaRPr lang="en-US" sz="1400" b="1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1B569EA1-0FB3-A50C-10EE-C64A1BCC15BE}"/>
              </a:ext>
            </a:extLst>
          </p:cNvPr>
          <p:cNvSpPr/>
          <p:nvPr/>
        </p:nvSpPr>
        <p:spPr>
          <a:xfrm>
            <a:off x="4788410" y="6067040"/>
            <a:ext cx="5053579" cy="1928220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/>
          <a:lstStyle/>
          <a:p>
            <a:pPr algn="ctr">
              <a:lnSpc>
                <a:spcPts val="2250"/>
              </a:lnSpc>
            </a:pPr>
            <a:r>
              <a:rPr lang="en-US" b="1" u="sng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TEAM – 12</a:t>
            </a:r>
          </a:p>
          <a:p>
            <a:pPr algn="ctr">
              <a:lnSpc>
                <a:spcPts val="2250"/>
              </a:lnSpc>
            </a:pPr>
            <a:endParaRPr lang="en-US" b="1" u="sng" dirty="0">
              <a:solidFill>
                <a:srgbClr val="272525"/>
              </a:solidFill>
              <a:latin typeface="Inter" pitchFamily="34" charset="0"/>
              <a:ea typeface="Inter" pitchFamily="34" charset="-122"/>
            </a:endParaRPr>
          </a:p>
          <a:p>
            <a:pPr algn="ctr">
              <a:lnSpc>
                <a:spcPts val="2250"/>
              </a:lnSpc>
            </a:pPr>
            <a:r>
              <a:rPr lang="en-US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KUNAL KUMAR DAPPU – 2320030167</a:t>
            </a:r>
          </a:p>
          <a:p>
            <a:pPr algn="ctr">
              <a:lnSpc>
                <a:spcPts val="2250"/>
              </a:lnSpc>
            </a:pPr>
            <a:r>
              <a:rPr lang="en-US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SASIDHAR . G – 2320030275</a:t>
            </a:r>
          </a:p>
          <a:p>
            <a:pPr algn="ctr">
              <a:lnSpc>
                <a:spcPts val="2250"/>
              </a:lnSpc>
            </a:pPr>
            <a:r>
              <a:rPr lang="en-US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VAISHNAVI. A – 2320030450</a:t>
            </a:r>
          </a:p>
          <a:p>
            <a:pPr algn="ctr">
              <a:lnSpc>
                <a:spcPts val="2250"/>
              </a:lnSpc>
            </a:pPr>
            <a:endParaRPr lang="en-US" b="1" dirty="0"/>
          </a:p>
        </p:txBody>
      </p:sp>
      <p:pic>
        <p:nvPicPr>
          <p:cNvPr id="8" name="image1.png" title="Image">
            <a:extLst>
              <a:ext uri="{FF2B5EF4-FFF2-40B4-BE49-F238E27FC236}">
                <a16:creationId xmlns:a16="http://schemas.microsoft.com/office/drawing/2014/main" id="{8C5DAA2E-8704-4E5C-BDB2-9D5AE9D2BD0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4400" y="812801"/>
            <a:ext cx="8254999" cy="1295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1782" y="528876"/>
            <a:ext cx="8468439" cy="579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Driving Real-Time Payment Oversight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82" y="1505188"/>
            <a:ext cx="8153162" cy="45505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34525" y="2569012"/>
            <a:ext cx="4181475" cy="2422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developed a cloud-native observability and operations monitoring platform for UPI-like digital payment transactions on Microsoft Azure. This system actively ingests real-time transaction events, calculates critical operational KPIs, detects incidents through intelligent, rule-based alerting, and delivers actionable insights via dynamic Power BI dashboards.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921782" y="6396276"/>
            <a:ext cx="4161353" cy="1304449"/>
          </a:xfrm>
          <a:prstGeom prst="roundRect">
            <a:avLst>
              <a:gd name="adj" fmla="val 59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14663" y="6589157"/>
            <a:ext cx="2647117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Monitor Real-Time KPIs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14663" y="6969443"/>
            <a:ext cx="3775591" cy="538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success rates, transactions per second (TPS), and latency percentiles.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234464" y="6396276"/>
            <a:ext cx="4161353" cy="1304449"/>
          </a:xfrm>
          <a:prstGeom prst="roundRect">
            <a:avLst>
              <a:gd name="adj" fmla="val 59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27345" y="6589157"/>
            <a:ext cx="3232785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 Incident Detection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27345" y="6969443"/>
            <a:ext cx="3775591" cy="538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anomalies promptly with rule-based alerting mechanisms.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9547146" y="6396276"/>
            <a:ext cx="4161353" cy="1304449"/>
          </a:xfrm>
          <a:prstGeom prst="roundRect">
            <a:avLst>
              <a:gd name="adj" fmla="val 59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740027" y="6589157"/>
            <a:ext cx="2317194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Store Historical Data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740027" y="6969443"/>
            <a:ext cx="3775591" cy="538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 raw events and aggregates for in-depth business intelligence.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874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Unlocking Peak Performance: The UPI Operations Challenge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6646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UPI handles billions of transactions annually, operations teams critically need real-time visibility, rapid incident detection, and swift blast-radius isolation to maintain demanding reliability Service Level Objectives (SLOs).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147423"/>
            <a:ext cx="6407944" cy="1223248"/>
          </a:xfrm>
          <a:prstGeom prst="roundRect">
            <a:avLst>
              <a:gd name="adj" fmla="val 1196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3310" y="4147423"/>
            <a:ext cx="121920" cy="1223248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2524" y="4404717"/>
            <a:ext cx="58019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each bank's/PSP's current transaction success rate?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28548" y="4147423"/>
            <a:ext cx="6408063" cy="1223248"/>
          </a:xfrm>
          <a:prstGeom prst="roundRect">
            <a:avLst>
              <a:gd name="adj" fmla="val 1196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98067" y="4147423"/>
            <a:ext cx="121920" cy="1223248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7282" y="4404717"/>
            <a:ext cx="58020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Are we seeing a failure spike in a specific region?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93790" y="5597485"/>
            <a:ext cx="6407944" cy="1223248"/>
          </a:xfrm>
          <a:prstGeom prst="roundRect">
            <a:avLst>
              <a:gd name="adj" fmla="val 1196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3310" y="5597485"/>
            <a:ext cx="121920" cy="1223248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2524" y="5854779"/>
            <a:ext cx="52604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Is p95/p99 latency meeting our SLOs?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428548" y="5597485"/>
            <a:ext cx="6408063" cy="1223248"/>
          </a:xfrm>
          <a:prstGeom prst="roundRect">
            <a:avLst>
              <a:gd name="adj" fmla="val 1196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98067" y="5597485"/>
            <a:ext cx="121920" cy="1223248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7282" y="5854779"/>
            <a:ext cx="58020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Which failure reasons dominate: timeout, bank down, or validation?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070" y="1032748"/>
            <a:ext cx="8850273" cy="66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Scope: Goals &amp; Exclusions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594122" y="2002750"/>
            <a:ext cx="6614279" cy="5194102"/>
          </a:xfrm>
          <a:prstGeom prst="roundRect">
            <a:avLst>
              <a:gd name="adj" fmla="val 2963"/>
            </a:avLst>
          </a:prstGeom>
          <a:solidFill>
            <a:srgbClr val="1B4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7839" y="2204085"/>
            <a:ext cx="26720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 Scope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7839" y="2739390"/>
            <a:ext cx="6186845" cy="367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 real-time transaction event streams.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 windowed KPIs (1-min / 5-min aggregations).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raw events for replay/auditing and aggregate data for Business Intelligence.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an operational dashboard with drill-down views.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alerting and incident detection using configurable thresholds.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Illustrate Service Level Indicators (SLI), Service Level Objectives (SLO), availability, and latency percentile concepts.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583567" y="2204085"/>
            <a:ext cx="26720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 of Scope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583567" y="2739390"/>
            <a:ext cx="6306383" cy="1801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direct integration with NPCI or Bank networks.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Exclude production-grade PCI-DSS security/compliance (provide best-practice notes only).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Omit advanced ML-based anomaly detection (consider as an optional extension).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583567" y="4767263"/>
            <a:ext cx="6306383" cy="2203013"/>
          </a:xfrm>
          <a:prstGeom prst="roundRect">
            <a:avLst>
              <a:gd name="adj" fmla="val 4075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284" y="5083493"/>
            <a:ext cx="267176" cy="21371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78178" y="5021937"/>
            <a:ext cx="5398056" cy="1660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platform directly addresses real-world payments operations challenges, including managing peak-hour loads, handling PSP degradation, mitigating timeout spikes, and continuously monitoring Service Level Objectives (SLOs) for availability.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3385" y="495895"/>
            <a:ext cx="11446550" cy="538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Accelerating Insights: Our Real-time Data Architecture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3405758" y="4016349"/>
            <a:ext cx="2460652" cy="334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583961" y="3823291"/>
            <a:ext cx="2460652" cy="669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363385" y="7247811"/>
            <a:ext cx="11903631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architectural layer scales independently. Event Hubs serves as the high-throughput entry point, while Stream Analytics delivers sub-minute KPI computation. ADLS Gen2 and Synapse provide durable, queryable storage for both real-time and historical workloads.</a:t>
            </a:r>
            <a:endParaRPr lang="en-US" sz="1350" dirty="0"/>
          </a:p>
        </p:txBody>
      </p:sp>
      <p:pic>
        <p:nvPicPr>
          <p:cNvPr id="10" name="Picture 9" descr="A diagram of a computer&#10;&#10;AI-generated content may be incorrect.">
            <a:extLst>
              <a:ext uri="{FF2B5EF4-FFF2-40B4-BE49-F238E27FC236}">
                <a16:creationId xmlns:a16="http://schemas.microsoft.com/office/drawing/2014/main" id="{EEB76CC5-96C9-7A29-6A87-11C0E8254E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597"/>
          <a:stretch>
            <a:fillRect/>
          </a:stretch>
        </p:blipFill>
        <p:spPr>
          <a:xfrm>
            <a:off x="1174574" y="1398858"/>
            <a:ext cx="12858810" cy="52349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2020"/>
            <a:ext cx="74980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Platform Components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84427"/>
            <a:ext cx="1341120" cy="8287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196709"/>
            <a:ext cx="3048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Generate Realistic Traffic Scenarios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041458"/>
            <a:ext cx="3048000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Transaction Producer simulates real-world UPI traffic, including peak surges (8–10 PM), bank outages, latency degradation, and regional disruptions, creating a robust testing environment.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2084427"/>
            <a:ext cx="1341120" cy="8287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3196709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Ingest High-Volume Streaming Data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4041458"/>
            <a:ext cx="304811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Event Hubs serves as a high-throughput ingestion layer, supporting consumer groups and replay via retention, capable of scaling to millions of events per second.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2084427"/>
            <a:ext cx="1341120" cy="8287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3196709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Compute Real-time Performance Metrics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4041458"/>
            <a:ext cx="304811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 Analytics rapidly computes tumbling window KPIs (1-min, 5-min), grouping metrics by bank, PSP, channel, region, and specific failure reasons for immediate insights.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2084427"/>
            <a:ext cx="1341120" cy="8287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3196709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Enable Scalable Data Storage &amp; Analysis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4041458"/>
            <a:ext cx="3048119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ADLS Gen2 ensures immutable raw event storage, partitioned by date and hour. Synapse Serverless SQL then exposes these views for Power BI dashboards and ad-hoc investigation queries.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77703" y="1543407"/>
            <a:ext cx="9124712" cy="428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Define Transaction Events and Track Key Performance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577703" y="2180153"/>
            <a:ext cx="2881074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Transaction Event Schema (JSON)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577703" y="2488168"/>
            <a:ext cx="4569857" cy="3867626"/>
          </a:xfrm>
          <a:prstGeom prst="roundRect">
            <a:avLst>
              <a:gd name="adj" fmla="val 149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85323" y="2495788"/>
            <a:ext cx="4554617" cy="2909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22721" y="2553176"/>
            <a:ext cx="1543407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48307" y="2553176"/>
            <a:ext cx="2454354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85323" y="2786777"/>
            <a:ext cx="4554617" cy="2909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22721" y="2844165"/>
            <a:ext cx="1543407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txn_id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48307" y="2844165"/>
            <a:ext cx="2454354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transaction identifier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85323" y="3077766"/>
            <a:ext cx="4554617" cy="2909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22721" y="3135154"/>
            <a:ext cx="1543407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event_time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48307" y="3135154"/>
            <a:ext cx="2454354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timestamp of the event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85323" y="3368754"/>
            <a:ext cx="4554617" cy="4672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22721" y="3426142"/>
            <a:ext cx="154340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payer_bank / payee_bank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48307" y="3426142"/>
            <a:ext cx="2454354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Identifiers for participating banks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85323" y="3835956"/>
            <a:ext cx="4554617" cy="4672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22721" y="3893344"/>
            <a:ext cx="1543407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48307" y="3893344"/>
            <a:ext cx="24543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Service Provider (e.g., PhonePe, GPay, Paytm, BankApp)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85323" y="4303157"/>
            <a:ext cx="4554617" cy="4672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22721" y="4360545"/>
            <a:ext cx="1543407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48307" y="4360545"/>
            <a:ext cx="24543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outcome (SUCCESS, FAIL, PENDING)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85323" y="4770358"/>
            <a:ext cx="4554617" cy="64341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22721" y="4827746"/>
            <a:ext cx="1543407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failure_reason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48307" y="4827746"/>
            <a:ext cx="2454354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reason for failure (e.g., timeout, bank_unavailable, invalid_vpa, limit_exceeded)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85323" y="5413772"/>
            <a:ext cx="4554617" cy="4672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22721" y="5471160"/>
            <a:ext cx="1543407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latency_ms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48307" y="5471160"/>
            <a:ext cx="24543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transaction processing time in milliseconds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85323" y="5880973"/>
            <a:ext cx="4554617" cy="4672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22721" y="5938361"/>
            <a:ext cx="1543407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48307" y="5938361"/>
            <a:ext cx="24543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region (optional; state or city)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90222" y="2180153"/>
            <a:ext cx="3778448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Performance Indicator (KPI) Aggregation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490222" y="2488168"/>
            <a:ext cx="4569857" cy="1312783"/>
          </a:xfrm>
          <a:prstGeom prst="roundRect">
            <a:avLst>
              <a:gd name="adj" fmla="val 4393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505462" y="2503408"/>
            <a:ext cx="4539377" cy="411837"/>
          </a:xfrm>
          <a:prstGeom prst="roundRect">
            <a:avLst>
              <a:gd name="adj" fmla="val 956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672161" y="2576751"/>
            <a:ext cx="205859" cy="257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42741" y="2998351"/>
            <a:ext cx="1716405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Overall Minute KPIs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642741" y="3296007"/>
            <a:ext cx="42648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Captures transaction count, success rate, average latency, and approximate P95/P99 latency per minute window.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490222" y="3884057"/>
            <a:ext cx="4569857" cy="1312783"/>
          </a:xfrm>
          <a:prstGeom prst="roundRect">
            <a:avLst>
              <a:gd name="adj" fmla="val 4393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505462" y="3899297"/>
            <a:ext cx="4539377" cy="411837"/>
          </a:xfrm>
          <a:prstGeom prst="roundRect">
            <a:avLst>
              <a:gd name="adj" fmla="val 956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672161" y="3972639"/>
            <a:ext cx="205859" cy="257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642741" y="4394240"/>
            <a:ext cx="1968103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Bank/PSP Specific KPIs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7642741" y="4691896"/>
            <a:ext cx="42648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metrics per bank and PSP: success rate, total failure count, timeout failure count, and average latency.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490222" y="5279946"/>
            <a:ext cx="4569857" cy="1312783"/>
          </a:xfrm>
          <a:prstGeom prst="roundRect">
            <a:avLst>
              <a:gd name="adj" fmla="val 4393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505462" y="5295186"/>
            <a:ext cx="4539377" cy="411837"/>
          </a:xfrm>
          <a:prstGeom prst="roundRect">
            <a:avLst>
              <a:gd name="adj" fmla="val 956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672161" y="5368528"/>
            <a:ext cx="205859" cy="257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642741" y="5790128"/>
            <a:ext cx="2210633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Failure Reason Breakdown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7642741" y="6087785"/>
            <a:ext cx="42648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Details failure reasons, including individual failure counts and their percentage share of total failures per minute.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41302" y="1086326"/>
            <a:ext cx="10947678" cy="991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Achieving Reliability: SLI/SLO Framework &amp; Automated Incident Detection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841302" y="2355056"/>
            <a:ext cx="4837152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Reliability Framework: Defining SLIs and SLOs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1841302" y="2727722"/>
            <a:ext cx="2584609" cy="1554242"/>
          </a:xfrm>
          <a:prstGeom prst="roundRect">
            <a:avLst>
              <a:gd name="adj" fmla="val 428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007513" y="2893933"/>
            <a:ext cx="1983224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Availability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2007513" y="3252787"/>
            <a:ext cx="2252186" cy="64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a Success Rate of ≥ </a:t>
            </a: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97%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over any rolling 5-minute period.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36877" y="2727722"/>
            <a:ext cx="2584728" cy="1554242"/>
          </a:xfrm>
          <a:prstGeom prst="roundRect">
            <a:avLst>
              <a:gd name="adj" fmla="val 428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3088" y="2893933"/>
            <a:ext cx="1983224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Latency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703088" y="3252787"/>
            <a:ext cx="2252305" cy="862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 p95 latency ≤ </a:t>
            </a: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800 ms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monitor p99 to proactively identify SLO breaches.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41302" y="4392930"/>
            <a:ext cx="5280303" cy="1122759"/>
          </a:xfrm>
          <a:prstGeom prst="roundRect">
            <a:avLst>
              <a:gd name="adj" fmla="val 593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07513" y="4559141"/>
            <a:ext cx="1983224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Throughput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007513" y="4917996"/>
            <a:ext cx="4947880" cy="431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Transactions Per Second (TPS) for peak load detection and effective capacity planning.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16177" y="2355056"/>
            <a:ext cx="5280303" cy="49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Incident Detection: Our Rule-Based Triggers</a:t>
            </a:r>
            <a:endParaRPr lang="en-US" sz="15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5709" y="2980611"/>
            <a:ext cx="237887" cy="23788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031718" y="2975610"/>
            <a:ext cx="2759035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Detect Overall Success Drop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031718" y="3334464"/>
            <a:ext cx="4764762" cy="431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 5-minute success rate falls below 97%, flag an incident candidate for review.</a:t>
            </a:r>
            <a:endParaRPr lang="en-US" sz="1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5709" y="3992880"/>
            <a:ext cx="237887" cy="23788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31718" y="3987879"/>
            <a:ext cx="2908935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Identify Bank-Specific Outage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8031718" y="4346734"/>
            <a:ext cx="4764762" cy="431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bank's 5-minute success rate drops below 90% (with sufficient transaction volume), trigger a bank-specific incident.</a:t>
            </a:r>
            <a:endParaRPr lang="en-US" sz="1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5709" y="5005149"/>
            <a:ext cx="237887" cy="2378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31718" y="5000149"/>
            <a:ext cx="2315766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Pinpoint Latency Spikes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031718" y="5359003"/>
            <a:ext cx="4764762" cy="431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5-minute p95 latency exceeding 800 ms triggers a performance incident (SEV2).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5709" y="6017419"/>
            <a:ext cx="237887" cy="2378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31718" y="6012418"/>
            <a:ext cx="2660333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Monitor for Timeout Surges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8031718" y="6371273"/>
            <a:ext cx="4764762" cy="64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timeout failures constitute over 40% of all failures in a 5-minute window, investigate potential network or connectivity issues.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8679"/>
            <a:ext cx="76919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 BI Ops Control Tower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07619"/>
            <a:ext cx="907256" cy="1669852"/>
          </a:xfrm>
          <a:prstGeom prst="roundRect">
            <a:avLst>
              <a:gd name="adj" fmla="val 36002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7278" y="2572345"/>
            <a:ext cx="340162" cy="340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7860" y="2134433"/>
            <a:ext cx="52710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Monitor Live Operational Performance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927860" y="2624852"/>
            <a:ext cx="1190875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critical key performance indicators (TPM, success rate, p95/p99 latency) with dynamic trend lines. Quickly identify top failing banks and core failure reasons over the last two hours.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3804285"/>
            <a:ext cx="907256" cy="1669852"/>
          </a:xfrm>
          <a:prstGeom prst="roundRect">
            <a:avLst>
              <a:gd name="adj" fmla="val 36002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7278" y="4469011"/>
            <a:ext cx="340162" cy="340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27860" y="4031099"/>
            <a:ext cx="5951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Pinpoint Bank and PSP Performance Issues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927860" y="4521517"/>
            <a:ext cx="1190875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 flexible slicers to filter data by bank, PSP, channel, and region. Examine 1-minute success rate trends, analyze failure breakdowns by reason, and visualize performance using hour-vs-success-rate heatmaps.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5700951"/>
            <a:ext cx="907256" cy="1669852"/>
          </a:xfrm>
          <a:prstGeom prst="roundRect">
            <a:avLst>
              <a:gd name="adj" fmla="val 36002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7278" y="6365677"/>
            <a:ext cx="340162" cy="3401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927860" y="5927765"/>
            <a:ext cx="51635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Track and Manage Incident Timelines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927860" y="6418183"/>
            <a:ext cx="1190875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a detailed incident list table including start time, type, severity, and top contributor. Overlay incident windows on live KPI trends to understand impact and response times.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4452" y="1206103"/>
            <a:ext cx="8995410" cy="45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Accelerating Impact: Key Takeaways &amp; Action Plan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2284452" y="1907619"/>
            <a:ext cx="328017" cy="328017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Text 2"/>
          <p:cNvSpPr/>
          <p:nvPr/>
        </p:nvSpPr>
        <p:spPr>
          <a:xfrm>
            <a:off x="2706172" y="1957626"/>
            <a:ext cx="3058597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Maximize Cloud-Native Scalability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06172" y="2279094"/>
            <a:ext cx="4431030" cy="57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managed Azure services deliver elastic scaling, effortlessly handling UPI-level transaction volumes and eliminating infrastructure overhead.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4452" y="3041571"/>
            <a:ext cx="328017" cy="328017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7" name="Text 5"/>
          <p:cNvSpPr/>
          <p:nvPr/>
        </p:nvSpPr>
        <p:spPr>
          <a:xfrm>
            <a:off x="2706172" y="3091577"/>
            <a:ext cx="3042285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Gain Real-time Operational Insight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06172" y="3413046"/>
            <a:ext cx="4431030" cy="57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KPIs, rule-based incident detection, and Power BI drill-downs empower teams to detect and isolate failures within minutes.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4452" y="4175522"/>
            <a:ext cx="328017" cy="328017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10" name="Text 8"/>
          <p:cNvSpPr/>
          <p:nvPr/>
        </p:nvSpPr>
        <p:spPr>
          <a:xfrm>
            <a:off x="2706172" y="4225528"/>
            <a:ext cx="2677001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for Future Extensibility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06172" y="4546997"/>
            <a:ext cx="4431030" cy="57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architecture supports optional ML anomaly detection, production-grade security hardening, and direct integration with NPCI/bank networks, facilitating future growth.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25839" y="1824156"/>
            <a:ext cx="2602230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Action Plan: Immediate Steps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00580" y="2229088"/>
            <a:ext cx="14573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00580" y="2461498"/>
            <a:ext cx="4852749" cy="1524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00580" y="2564844"/>
            <a:ext cx="2483048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 Synthetic Producers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00580" y="2886313"/>
            <a:ext cx="4852749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peak-hour and bank-outage simulation scenarios.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00580" y="3281005"/>
            <a:ext cx="14573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00580" y="3513415"/>
            <a:ext cx="4852749" cy="1524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00580" y="3616762"/>
            <a:ext cx="2770822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Validate Stream Analytics Jobs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00580" y="3938230"/>
            <a:ext cx="4852749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1-minute and 5-minute windowed KPI outputs against expected values.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00580" y="4524613"/>
            <a:ext cx="14573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00580" y="4757023"/>
            <a:ext cx="4852749" cy="1524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00580" y="4860369"/>
            <a:ext cx="2610922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Connect Power BI to Synapse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00580" y="5181838"/>
            <a:ext cx="4852749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Ops Overview and Incident Timeline pages for stakeholder review.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00580" y="5768221"/>
            <a:ext cx="14573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00580" y="6000631"/>
            <a:ext cx="4852749" cy="1524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00580" y="6103977"/>
            <a:ext cx="1974771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Tune Alert Thresholds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00580" y="6425446"/>
            <a:ext cx="4852749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Calibrate incident rules based on baseline traffic patterns from simulation results.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1194</Words>
  <Application>Microsoft Macintosh PowerPoint</Application>
  <PresentationFormat>Custom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</vt:lpstr>
      <vt:lpstr>Arial</vt:lpstr>
      <vt:lpstr>Inter Bold</vt:lpstr>
      <vt:lpstr>Inter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Kunal Kumar Dappu</cp:lastModifiedBy>
  <cp:revision>2</cp:revision>
  <dcterms:created xsi:type="dcterms:W3CDTF">2026-02-21T04:52:37Z</dcterms:created>
  <dcterms:modified xsi:type="dcterms:W3CDTF">2026-03-07T05:02:18Z</dcterms:modified>
</cp:coreProperties>
</file>